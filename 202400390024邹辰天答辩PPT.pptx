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4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98765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基于STDP的手写数字识别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 algn="ctr">
              <a:spcAft>
                <a:spcPts val="400"/>
              </a:spcAft>
              <a:defRPr sz="1600" b="0">
                <a:solidFill>
                  <a:srgbClr val="222222"/>
                </a:solidFill>
                <a:latin typeface="Arial Unicode MS"/>
              </a:defRPr>
            </a:pPr>
            <a:r>
              <a:rPr lang="zh-CN" altLang="en-US" b="1" dirty="0"/>
              <a:t>邹辰天 </a:t>
            </a:r>
            <a:r>
              <a:rPr lang="en-US" altLang="zh-CN" dirty="0"/>
              <a:t>202400390024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编码方式 &amp; 神经元模型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4772" y="2340429"/>
            <a:ext cx="50292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泊松编码</a:t>
            </a:r>
            <a:endParaRPr dirty="0"/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P(spike) = pixel × </a:t>
            </a:r>
            <a:r>
              <a:rPr dirty="0" err="1"/>
              <a:t>max_rate</a:t>
            </a:r>
            <a:r>
              <a:rPr dirty="0"/>
              <a:t> × dt/1000</a:t>
            </a:r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像素值高</a:t>
            </a:r>
            <a:r>
              <a:rPr dirty="0"/>
              <a:t> → </a:t>
            </a:r>
            <a:r>
              <a:rPr dirty="0" err="1"/>
              <a:t>发放率高频</a:t>
            </a:r>
            <a:r>
              <a:rPr dirty="0"/>
              <a:t> → </a:t>
            </a:r>
            <a:r>
              <a:rPr dirty="0" err="1"/>
              <a:t>脉冲多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每次展现产生不同的脉冲序列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STDP可捕捉输入间的时序相关性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Arial Unicode MS"/>
              </a:defRPr>
            </a:pPr>
            <a:r>
              <a:rPr dirty="0"/>
              <a:t>• </a:t>
            </a:r>
            <a:r>
              <a:rPr sz="1300" dirty="0" err="1">
                <a:solidFill>
                  <a:srgbClr val="222222"/>
                </a:solidFill>
                <a:latin typeface="Arial Unicode MS"/>
              </a:rPr>
              <a:t>生物学合理：真实神经元发放近似泊松过程</a:t>
            </a:r>
            <a:endParaRPr sz="1300" dirty="0">
              <a:solidFill>
                <a:srgbClr val="222222"/>
              </a:solidFill>
              <a:latin typeface="Arial Unicode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0" y="234042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电导型LIF神经元</a:t>
            </a:r>
            <a:endParaRPr dirty="0"/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222222"/>
                </a:solidFill>
                <a:latin typeface="Arial Unicode MS"/>
              </a:defRPr>
            </a:pPr>
            <a:r>
              <a:rPr dirty="0" err="1"/>
              <a:t>τ</a:t>
            </a:r>
            <a:r>
              <a:rPr dirty="0"/>
              <a:t>ₘ·dv/dt = (</a:t>
            </a:r>
            <a:r>
              <a:rPr dirty="0" err="1"/>
              <a:t>v_rest</a:t>
            </a:r>
            <a:r>
              <a:rPr dirty="0"/>
              <a:t> − v) + gₑ·(−v) + gᵢ·(−100−v)</a:t>
            </a:r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τ</a:t>
            </a:r>
            <a:r>
              <a:rPr dirty="0"/>
              <a:t>ₘ=100ms   </a:t>
            </a:r>
            <a:r>
              <a:rPr dirty="0" err="1"/>
              <a:t>τ_ge</a:t>
            </a:r>
            <a:r>
              <a:rPr dirty="0"/>
              <a:t>=1ms   </a:t>
            </a:r>
            <a:r>
              <a:rPr dirty="0" err="1"/>
              <a:t>τ_gi</a:t>
            </a:r>
            <a:r>
              <a:rPr dirty="0"/>
              <a:t>=2ms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电导型优势：分流抑制</a:t>
            </a:r>
            <a:r>
              <a:rPr dirty="0"/>
              <a:t> + </a:t>
            </a:r>
            <a:r>
              <a:rPr dirty="0" err="1"/>
              <a:t>自稳定性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阈值</a:t>
            </a:r>
            <a:r>
              <a:rPr dirty="0"/>
              <a:t>: v &gt; θ−72mV，发放后θ+=0.05mV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不应期</a:t>
            </a:r>
            <a:r>
              <a:rPr dirty="0"/>
              <a:t>: 5ms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STDP学习规则 &amp; 网络架构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三重trace</a:t>
            </a:r>
            <a:r>
              <a:rPr dirty="0"/>
              <a:t> STDP (Diehl &amp; Cook 2015)</a:t>
            </a:r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pre:    </a:t>
            </a:r>
            <a:r>
              <a:rPr dirty="0" err="1"/>
              <a:t>τ</a:t>
            </a:r>
            <a:r>
              <a:rPr dirty="0"/>
              <a:t>=20ms    </a:t>
            </a:r>
            <a:r>
              <a:rPr dirty="0" err="1"/>
              <a:t>输入脉冲触发</a:t>
            </a:r>
            <a:r>
              <a:rPr dirty="0"/>
              <a:t> → </a:t>
            </a:r>
            <a:r>
              <a:rPr dirty="0" err="1"/>
              <a:t>用于LTP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post1:  </a:t>
            </a:r>
            <a:r>
              <a:rPr dirty="0" err="1"/>
              <a:t>τ</a:t>
            </a:r>
            <a:r>
              <a:rPr dirty="0"/>
              <a:t>=20ms    </a:t>
            </a:r>
            <a:r>
              <a:rPr dirty="0" err="1"/>
              <a:t>神经元发放</a:t>
            </a:r>
            <a:r>
              <a:rPr dirty="0"/>
              <a:t> → </a:t>
            </a:r>
            <a:r>
              <a:rPr dirty="0" err="1"/>
              <a:t>用于LTD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post2:  </a:t>
            </a:r>
            <a:r>
              <a:rPr dirty="0" err="1"/>
              <a:t>τ</a:t>
            </a:r>
            <a:r>
              <a:rPr dirty="0"/>
              <a:t>=40ms    </a:t>
            </a:r>
            <a:r>
              <a:rPr dirty="0" err="1"/>
              <a:t>神经元发放</a:t>
            </a:r>
            <a:r>
              <a:rPr dirty="0"/>
              <a:t> → </a:t>
            </a:r>
            <a:r>
              <a:rPr dirty="0" err="1"/>
              <a:t>调制LTP</a:t>
            </a:r>
            <a:endParaRPr dirty="0"/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C62828"/>
                </a:solidFill>
                <a:latin typeface="Arial Unicode MS"/>
              </a:defRPr>
            </a:pPr>
            <a:r>
              <a:rPr dirty="0"/>
              <a:t>LTD (</a:t>
            </a:r>
            <a:r>
              <a:rPr dirty="0" err="1"/>
              <a:t>输入脉冲时</a:t>
            </a:r>
            <a:r>
              <a:rPr dirty="0"/>
              <a:t>):  </a:t>
            </a:r>
            <a:r>
              <a:rPr dirty="0" err="1"/>
              <a:t>Δw</a:t>
            </a:r>
            <a:r>
              <a:rPr dirty="0"/>
              <a:t> = −0.0001 × post1</a:t>
            </a:r>
          </a:p>
          <a:p>
            <a:pPr>
              <a:spcAft>
                <a:spcPts val="400"/>
              </a:spcAft>
              <a:defRPr sz="1400" b="0">
                <a:solidFill>
                  <a:srgbClr val="2E7D32"/>
                </a:solidFill>
                <a:latin typeface="Arial Unicode MS"/>
              </a:defRPr>
            </a:pPr>
            <a:r>
              <a:rPr dirty="0"/>
              <a:t>LTP (</a:t>
            </a:r>
            <a:r>
              <a:rPr dirty="0" err="1"/>
              <a:t>发放时</a:t>
            </a:r>
            <a:r>
              <a:rPr dirty="0"/>
              <a:t>):      </a:t>
            </a:r>
            <a:r>
              <a:rPr dirty="0" err="1"/>
              <a:t>Δw</a:t>
            </a:r>
            <a:r>
              <a:rPr dirty="0"/>
              <a:t> = +0.01 × pre × post2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Arial Unicode MS"/>
              </a:defRPr>
            </a:pPr>
            <a:r>
              <a:rPr dirty="0" err="1"/>
              <a:t>权重</a:t>
            </a:r>
            <a:r>
              <a:rPr dirty="0"/>
              <a:t>: w ∈ [0,1]    </a:t>
            </a:r>
            <a:r>
              <a:rPr dirty="0" err="1"/>
              <a:t>每样本归一化</a:t>
            </a:r>
            <a:r>
              <a:rPr dirty="0"/>
              <a:t>: </a:t>
            </a:r>
            <a:r>
              <a:rPr dirty="0" err="1"/>
              <a:t>Σw</a:t>
            </a:r>
            <a:r>
              <a:rPr dirty="0"/>
              <a:t> =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565C0"/>
                </a:solidFill>
                <a:latin typeface="Arial Unicode MS"/>
              </a:defRPr>
            </a:pPr>
            <a:r>
              <a:t>E↔I 侧向抑制回路</a:t>
            </a:r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/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0" y="1967840"/>
            <a:ext cx="33593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22222"/>
                </a:solidFill>
                <a:latin typeface="SF Mono"/>
              </a:defRPr>
            </a:pPr>
            <a: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E→I: </a:t>
            </a:r>
            <a:r>
              <a:rPr sz="1200" spc="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一对一</a:t>
            </a:r>
            <a: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(w=10.4)</a:t>
            </a:r>
            <a:b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I→E: </a:t>
            </a:r>
            <a:r>
              <a:rPr sz="1200" spc="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全连接除自身</a:t>
            </a:r>
            <a: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(w=17.0)</a:t>
            </a:r>
            <a:endParaRPr lang="en-US" sz="12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 sz="1000">
                <a:solidFill>
                  <a:srgbClr val="222222"/>
                </a:solidFill>
                <a:latin typeface="SF Mono"/>
              </a:defRPr>
            </a:pPr>
            <a:br>
              <a:rPr sz="12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sz="12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565C0"/>
                </a:solidFill>
                <a:latin typeface="Arial Unicode MS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6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710BFB-1634-010E-43B9-41ADA328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20" y="4150727"/>
            <a:ext cx="65786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方法一 vs 方法二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48811"/>
              </p:ext>
            </p:extLst>
          </p:nvPr>
        </p:nvGraphicFramePr>
        <p:xfrm>
          <a:off x="731520" y="137160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在线STDP (方法一)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Brian2 + </a:t>
                      </a:r>
                      <a:r>
                        <a:rPr dirty="0" err="1"/>
                        <a:t>Cython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权重更新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每个spike实时触发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时序依赖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严格依赖 spike timing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竞争方式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E↔I回路 涌现式WTA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仿真时长/样本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350ms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神经元数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训练耗时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~12.5 小时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92.39%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生物学合理性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高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606743"/>
              </p:ext>
            </p:extLst>
          </p:nvPr>
        </p:nvGraphicFramePr>
        <p:xfrm>
          <a:off x="658368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速率近似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方法二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框架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Numba JIT 编译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权重更新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仿真后一次性完成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时序依赖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仅依赖发放率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竞争方式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不应期轮换 + argmax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仿真时长/样本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50ms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神经元数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训练耗时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17 </a:t>
                      </a:r>
                      <a:r>
                        <a:rPr dirty="0" err="1"/>
                        <a:t>分钟</a:t>
                      </a:r>
                      <a:r>
                        <a:rPr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91.90%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生物学合理性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中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51560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理论依据</a:t>
            </a:r>
            <a:r>
              <a:rPr dirty="0"/>
              <a:t> (</a:t>
            </a:r>
            <a:r>
              <a:rPr dirty="0" err="1"/>
              <a:t>Zenke</a:t>
            </a:r>
            <a:r>
              <a:rPr dirty="0"/>
              <a:t> et al. 2015):  </a:t>
            </a:r>
            <a:r>
              <a:rPr dirty="0" err="1"/>
              <a:t>STDP稳态平衡</a:t>
            </a:r>
            <a:r>
              <a:rPr dirty="0"/>
              <a:t> ⟺ Hebbian LTP + </a:t>
            </a:r>
            <a:r>
              <a:rPr dirty="0" err="1"/>
              <a:t>权重归一化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Arial Unicode MS"/>
              </a:defRPr>
            </a:pPr>
            <a:r>
              <a:rPr dirty="0"/>
              <a:t>LTP(pre-before-post) ⟺ Hebbian LTP |    LTD(post-before-pre) ⟺ </a:t>
            </a:r>
            <a:r>
              <a:rPr dirty="0" err="1"/>
              <a:t>权重归一化</a:t>
            </a:r>
            <a:r>
              <a:rPr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565C0"/>
                </a:solidFill>
                <a:latin typeface="Arial Unicode MS"/>
              </a:defRPr>
            </a:pPr>
            <a:r>
              <a:rPr dirty="0" err="1"/>
              <a:t>数据集划分</a:t>
            </a:r>
            <a:endParaRPr dirty="0"/>
          </a:p>
          <a:p>
            <a:pPr>
              <a:spcAft>
                <a:spcPts val="400"/>
              </a:spcAft>
              <a:defRPr sz="400" b="0">
                <a:solidFill>
                  <a:srgbClr val="222222"/>
                </a:solidFill>
                <a:latin typeface="Arial Unicode MS"/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222222"/>
                </a:solidFill>
                <a:latin typeface="Arial Unicode MS"/>
              </a:defRPr>
            </a:pPr>
            <a:r>
              <a:rPr dirty="0" err="1"/>
              <a:t>训练集</a:t>
            </a:r>
            <a:r>
              <a:rPr dirty="0"/>
              <a:t>: 60,000  —  </a:t>
            </a:r>
            <a:r>
              <a:rPr dirty="0" err="1"/>
              <a:t>无监督STDP</a:t>
            </a:r>
            <a:r>
              <a:rPr dirty="0"/>
              <a:t>/</a:t>
            </a:r>
            <a:r>
              <a:rPr dirty="0" err="1"/>
              <a:t>Hebbian学习</a:t>
            </a:r>
            <a:endParaRPr lang="zh-CN" altLang="en-US" dirty="0"/>
          </a:p>
          <a:p>
            <a:pPr>
              <a:spcAft>
                <a:spcPts val="400"/>
              </a:spcAft>
              <a:defRPr sz="1400" b="0">
                <a:solidFill>
                  <a:srgbClr val="222222"/>
                </a:solidFill>
                <a:latin typeface="Arial Unicode MS"/>
              </a:defRPr>
            </a:pPr>
            <a:r>
              <a:rPr lang="zh-CN" altLang="en-US" dirty="0"/>
              <a:t>标签分配集</a:t>
            </a:r>
            <a:r>
              <a:rPr lang="en-US" altLang="zh-CN" dirty="0"/>
              <a:t>: </a:t>
            </a:r>
            <a:r>
              <a:rPr lang="zh-CN" altLang="en-US" dirty="0"/>
              <a:t>前</a:t>
            </a:r>
            <a:r>
              <a:rPr lang="en-US" altLang="zh-CN" dirty="0"/>
              <a:t>5</a:t>
            </a:r>
            <a:r>
              <a:rPr lang="en-US" dirty="0"/>
              <a:t>K/30K  —  </a:t>
            </a:r>
            <a:r>
              <a:rPr lang="zh-CN" altLang="en-US" dirty="0"/>
              <a:t>事后标注</a:t>
            </a:r>
            <a:r>
              <a:rPr lang="en-US" altLang="zh-CN" dirty="0"/>
              <a:t>(</a:t>
            </a:r>
            <a:r>
              <a:rPr lang="zh-CN" altLang="en-US" dirty="0"/>
              <a:t>权重冻结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spcAft>
                <a:spcPts val="400"/>
              </a:spcAft>
              <a:defRPr sz="1400" b="0">
                <a:solidFill>
                  <a:srgbClr val="222222"/>
                </a:solidFill>
                <a:latin typeface="Arial Unicode MS"/>
              </a:defRPr>
            </a:pPr>
            <a:r>
              <a:rPr dirty="0" err="1"/>
              <a:t>测试集</a:t>
            </a:r>
            <a:r>
              <a:rPr dirty="0"/>
              <a:t>: 10,000  —  </a:t>
            </a:r>
            <a:r>
              <a:rPr dirty="0" err="1"/>
              <a:t>最终评估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018165"/>
              </p:ext>
            </p:extLst>
          </p:nvPr>
        </p:nvGraphicFramePr>
        <p:xfrm>
          <a:off x="731520" y="3320143"/>
          <a:ext cx="10515600" cy="3141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20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方法一 (STDP)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方法二 (Hebbian)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神经元数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膜时间常数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τ</a:t>
                      </a:r>
                      <a:r>
                        <a:rPr dirty="0"/>
                        <a:t>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仿真时长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350ms + 150ms静息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50ms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学习率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LTP: 0.01 / LTD: 0.0001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Hebbian: 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权重归一化目标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78.0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78.0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训练轮数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3轮 (180K样本)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4轮 (240K样本)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随机种子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80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推理方式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Top-K加权投票 (K=10)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Top-</a:t>
                      </a:r>
                      <a:r>
                        <a:rPr dirty="0" err="1"/>
                        <a:t>K加权投票</a:t>
                      </a:r>
                      <a:r>
                        <a:rPr dirty="0"/>
                        <a:t> (K=10)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实验结果 — 分类准确率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39555"/>
              </p:ext>
            </p:extLst>
          </p:nvPr>
        </p:nvGraphicFramePr>
        <p:xfrm>
          <a:off x="1371600" y="146304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神经元数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 Unicode MS"/>
                        </a:defRPr>
                      </a:pPr>
                      <a:r>
                        <a:t>训练耗时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在线STDP</a:t>
                      </a:r>
                      <a:r>
                        <a:rPr dirty="0"/>
                        <a:t> (Brian2)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92.39%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~12.5 小时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 err="1"/>
                        <a:t>速率近似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Numba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91.90%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17 </a:t>
                      </a:r>
                      <a:r>
                        <a:rPr dirty="0" err="1"/>
                        <a:t>分钟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Diehl &amp; Cook (2015)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t>~95%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  <a:latin typeface="Arial Unicode M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per_class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3108960"/>
            <a:ext cx="8574595" cy="3655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实验结果 — 混淆矩阵</a:t>
            </a:r>
          </a:p>
        </p:txBody>
      </p:sp>
      <p:pic>
        <p:nvPicPr>
          <p:cNvPr id="3" name="Picture 2" descr="confusion_matrix_st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846320"/>
          </a:xfrm>
          <a:prstGeom prst="rect">
            <a:avLst/>
          </a:prstGeom>
        </p:spPr>
      </p:pic>
      <p:pic>
        <p:nvPicPr>
          <p:cNvPr id="4" name="Picture 3" descr="confusion_matrix_hebb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Arial Unicode MS"/>
              </a:defRPr>
            </a:pPr>
            <a:r>
              <a:rPr dirty="0" err="1"/>
              <a:t>左</a:t>
            </a:r>
            <a:r>
              <a:rPr dirty="0"/>
              <a:t>: </a:t>
            </a:r>
            <a:r>
              <a:rPr dirty="0" err="1"/>
              <a:t>在线STDP</a:t>
            </a:r>
            <a:r>
              <a:rPr dirty="0"/>
              <a:t> (92.39%)       </a:t>
            </a:r>
            <a:r>
              <a:rPr dirty="0" err="1"/>
              <a:t>右</a:t>
            </a:r>
            <a:r>
              <a:rPr dirty="0"/>
              <a:t>: </a:t>
            </a:r>
            <a:r>
              <a:rPr dirty="0" err="1"/>
              <a:t>速率近似</a:t>
            </a:r>
            <a:r>
              <a:rPr dirty="0"/>
              <a:t> (91.90%)      </a:t>
            </a:r>
            <a:r>
              <a:rPr dirty="0" err="1"/>
              <a:t>两者混淆模式</a:t>
            </a:r>
            <a:r>
              <a:rPr lang="zh-CN" altLang="en-US" dirty="0"/>
              <a:t>相似</a:t>
            </a:r>
            <a:r>
              <a:rPr dirty="0"/>
              <a:t> </a:t>
            </a:r>
            <a:r>
              <a:rPr lang="zh-CN" altLang="en-US" dirty="0"/>
              <a:t>→ </a:t>
            </a:r>
            <a:r>
              <a:rPr dirty="0" err="1"/>
              <a:t>验证了STDP与速率近似学到相似的特征分布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1565C0"/>
                </a:solidFill>
                <a:latin typeface="Arial Unicode MS"/>
              </a:defRPr>
            </a:pPr>
            <a:r>
              <a:t>实验结果 — 感受野可视化</a:t>
            </a:r>
          </a:p>
        </p:txBody>
      </p:sp>
      <p:pic>
        <p:nvPicPr>
          <p:cNvPr id="3" name="Picture 2" descr="receptive_fields_st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2286000"/>
          </a:xfrm>
          <a:prstGeom prst="rect">
            <a:avLst/>
          </a:prstGeom>
        </p:spPr>
      </p:pic>
      <p:pic>
        <p:nvPicPr>
          <p:cNvPr id="4" name="Picture 3" descr="receptive_fields_hebb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0"/>
            <a:ext cx="502920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E7D32"/>
                </a:solidFill>
                <a:latin typeface="Arial Unicode MS"/>
              </a:defRPr>
            </a:pPr>
            <a:r>
              <a:rPr dirty="0" err="1"/>
              <a:t>在线STDP</a:t>
            </a:r>
            <a:r>
              <a:rPr dirty="0"/>
              <a:t> — </a:t>
            </a:r>
            <a:r>
              <a:rPr dirty="0" err="1"/>
              <a:t>特征稀疏、局部化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STDP仅强化时序相关的输入通道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产生更局部的数字特征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lang="en-US" altLang="zh-CN" dirty="0"/>
              <a:t>• </a:t>
            </a:r>
            <a:r>
              <a:rPr lang="zh-CN" altLang="en-US" dirty="0"/>
              <a:t>稀疏性 ：</a:t>
            </a:r>
            <a:r>
              <a:rPr lang="en-US" altLang="zh-CN" dirty="0" err="1"/>
              <a:t>S</a:t>
            </a:r>
            <a:r>
              <a:rPr dirty="0" err="1"/>
              <a:t>TDP时序选择性的体现</a:t>
            </a:r>
            <a:endParaRPr lang="en-US"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lang="zh-CN" altLang="en-US" b="0" i="0" u="none" strike="noStrike" dirty="0">
                <a:effectLst/>
                <a:latin typeface="-apple-system"/>
              </a:rPr>
              <a:t> 保留精确的脉冲时序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502920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62828"/>
                </a:solidFill>
                <a:latin typeface="Arial Unicode MS"/>
              </a:defRPr>
            </a:pPr>
            <a:r>
              <a:rPr dirty="0" err="1"/>
              <a:t>速率近似</a:t>
            </a:r>
            <a:r>
              <a:rPr dirty="0"/>
              <a:t> — </a:t>
            </a:r>
            <a:r>
              <a:rPr dirty="0" err="1"/>
              <a:t>特征平滑、完整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仿真后一次更新所有高像素输入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学到更完整的数字模板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dirty="0"/>
              <a:t>• </a:t>
            </a:r>
            <a:r>
              <a:rPr dirty="0" err="1"/>
              <a:t>平滑性</a:t>
            </a:r>
            <a:r>
              <a:rPr dirty="0"/>
              <a:t> </a:t>
            </a:r>
            <a:r>
              <a:rPr lang="zh-CN" altLang="en-US" dirty="0"/>
              <a:t>：</a:t>
            </a:r>
            <a:r>
              <a:rPr dirty="0" err="1"/>
              <a:t>速率学习的全局性</a:t>
            </a:r>
            <a:endParaRPr lang="en-US" dirty="0"/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Arial Unicode MS"/>
              </a:defRPr>
            </a:pPr>
            <a:r>
              <a:rPr lang="zh-CN" altLang="en-US" b="0" i="0" u="none" strike="noStrike" dirty="0">
                <a:effectLst/>
                <a:latin typeface="-apple-system"/>
              </a:rPr>
              <a:t>完全丢弃时序，只保留平均发放率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666666"/>
                </a:solidFill>
                <a:latin typeface="Arial Unicode M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530</Words>
  <Application>Microsoft Macintosh PowerPoint</Application>
  <PresentationFormat>宽屏</PresentationFormat>
  <Paragraphs>148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-apple-system</vt:lpstr>
      <vt:lpstr>Microsoft YaHei</vt:lpstr>
      <vt:lpstr>Arial Unicode MS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Yuki kazct</cp:lastModifiedBy>
  <cp:revision>12</cp:revision>
  <dcterms:created xsi:type="dcterms:W3CDTF">2013-01-27T09:14:16Z</dcterms:created>
  <dcterms:modified xsi:type="dcterms:W3CDTF">2026-06-25T00:49:13Z</dcterms:modified>
  <cp:category/>
</cp:coreProperties>
</file>